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374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742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67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3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18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170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75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966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925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715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181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4322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1980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528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334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857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284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6022A10-23A9-46D1-B387-E2FBF51B5C18}" type="datetimeFigureOut">
              <a:rPr lang="en-CA" smtClean="0"/>
              <a:t>2026-06-28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25ABC23-99C4-4BB0-B6FD-88622974675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55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6A56-8850-E366-84B9-EF76C9E05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Capstone Two – Final Presentation</a:t>
            </a:r>
            <a:br>
              <a:rPr lang="en-CA" dirty="0"/>
            </a:br>
            <a:r>
              <a:rPr lang="en-CA" dirty="0"/>
              <a:t>Loan Default Risk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0218C-667B-726A-9331-5926A5BE4E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Hemali Patel</a:t>
            </a:r>
            <a:br>
              <a:rPr lang="en-CA" dirty="0"/>
            </a:br>
            <a:r>
              <a:rPr lang="en-CA" dirty="0"/>
              <a:t>28 June 2026</a:t>
            </a:r>
          </a:p>
        </p:txBody>
      </p:sp>
    </p:spTree>
    <p:extLst>
      <p:ext uri="{BB962C8B-B14F-4D97-AF65-F5344CB8AC3E}">
        <p14:creationId xmlns:p14="http://schemas.microsoft.com/office/powerpoint/2010/main" val="871925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98A4-A41E-CE4E-DBEF-9885502C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8FD98-AB8A-796E-03CE-3D7F368D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project analyzes loan default risk using borrower financial and credit data. The goal is to understand key factors that influence whether a borrower is likely to default on a loan.</a:t>
            </a:r>
          </a:p>
        </p:txBody>
      </p:sp>
    </p:spTree>
    <p:extLst>
      <p:ext uri="{BB962C8B-B14F-4D97-AF65-F5344CB8AC3E}">
        <p14:creationId xmlns:p14="http://schemas.microsoft.com/office/powerpoint/2010/main" val="346721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4C05-C465-1738-C149-70EDFF72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3D17-6425-CC5E-B1E7-D7DC6853C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Financial institutions face significant losses due to loan defaults. Identifying high-risk borrowers early can help reduce financial risk and improve lending decisions.</a:t>
            </a:r>
          </a:p>
        </p:txBody>
      </p:sp>
    </p:spTree>
    <p:extLst>
      <p:ext uri="{BB962C8B-B14F-4D97-AF65-F5344CB8AC3E}">
        <p14:creationId xmlns:p14="http://schemas.microsoft.com/office/powerpoint/2010/main" val="4280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8E3F-EDDF-5DDE-0299-65BBB059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77E0-A6DA-D494-6FB4-A3216ACD1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Identify key drivers of loan default risk </a:t>
            </a:r>
          </a:p>
          <a:p>
            <a:r>
              <a:rPr lang="en-CA" dirty="0"/>
              <a:t>Analyze borrower financial behavior </a:t>
            </a:r>
          </a:p>
          <a:p>
            <a:r>
              <a:rPr lang="en-CA" dirty="0"/>
              <a:t>Understand relationships between risk factors </a:t>
            </a:r>
          </a:p>
          <a:p>
            <a:r>
              <a:rPr lang="en-CA" dirty="0"/>
              <a:t>Provide actionable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71326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C8E5-03D0-1D16-3980-6FBAA9EC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CBC8-AA11-A5B4-DE9C-0E8DF612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factors are most strongly associated with loan default? </a:t>
            </a:r>
          </a:p>
          <a:p>
            <a:r>
              <a:rPr lang="en-CA" dirty="0"/>
              <a:t>How does income level affect default probability? </a:t>
            </a:r>
          </a:p>
          <a:p>
            <a:r>
              <a:rPr lang="en-CA" dirty="0"/>
              <a:t>Is debt-to-income ratio a strong indicator of risk? </a:t>
            </a:r>
          </a:p>
          <a:p>
            <a:r>
              <a:rPr lang="en-CA" dirty="0"/>
              <a:t>Does credit history influence loan repayment behavior? </a:t>
            </a:r>
          </a:p>
          <a:p>
            <a:r>
              <a:rPr lang="en-CA" dirty="0"/>
              <a:t>How does loan amount relate to default risk?</a:t>
            </a:r>
          </a:p>
        </p:txBody>
      </p:sp>
    </p:spTree>
    <p:extLst>
      <p:ext uri="{BB962C8B-B14F-4D97-AF65-F5344CB8AC3E}">
        <p14:creationId xmlns:p14="http://schemas.microsoft.com/office/powerpoint/2010/main" val="306111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906F-8FC0-1B17-AB72-25E84AA9D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FA1C-D575-62C6-8714-835794F24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Borrowers with higher debt-to-income ratios are more likely to default on loans. </a:t>
            </a:r>
          </a:p>
          <a:p>
            <a:r>
              <a:rPr lang="en-CA" dirty="0"/>
              <a:t>Borrowers with poor credit history have a higher probability of default. </a:t>
            </a:r>
          </a:p>
          <a:p>
            <a:r>
              <a:rPr lang="en-CA" dirty="0"/>
              <a:t>Higher loan amounts are associated with increased loan risk.</a:t>
            </a:r>
          </a:p>
          <a:p>
            <a:r>
              <a:rPr lang="en-CA" dirty="0"/>
              <a:t> Interest rates reflect borrower risk levels.</a:t>
            </a:r>
          </a:p>
        </p:txBody>
      </p:sp>
    </p:spTree>
    <p:extLst>
      <p:ext uri="{BB962C8B-B14F-4D97-AF65-F5344CB8AC3E}">
        <p14:creationId xmlns:p14="http://schemas.microsoft.com/office/powerpoint/2010/main" val="303068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4951D-F0B0-7878-F0F9-BCA20659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Loan Status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2F8A-C64B-8CAB-02DE-A5CE5359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dataset shows that most borrowers successfully repay their loans, while a smaller portion default.</a:t>
            </a:r>
            <a:br>
              <a:rPr lang="en-CA" dirty="0"/>
            </a:br>
            <a:r>
              <a:rPr lang="en-CA" dirty="0"/>
              <a:t>Although defaults are a minority, they represent a significant financial risk for lenders.</a:t>
            </a:r>
            <a:br>
              <a:rPr lang="en-CA" dirty="0"/>
            </a:br>
            <a:r>
              <a:rPr lang="en-CA" dirty="0"/>
              <a:t>This highlights the importance of identifying high-risk borrowers early.</a:t>
            </a:r>
          </a:p>
        </p:txBody>
      </p:sp>
    </p:spTree>
    <p:extLst>
      <p:ext uri="{BB962C8B-B14F-4D97-AF65-F5344CB8AC3E}">
        <p14:creationId xmlns:p14="http://schemas.microsoft.com/office/powerpoint/2010/main" val="825109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4767-3FDB-CBEC-D72D-48C3FFC8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Loan Risk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71D1-92F3-2D4B-273F-9C069646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Most borrowers fall into low and moderate risk categories, while fewer are classified as high risk.</a:t>
            </a:r>
            <a:br>
              <a:rPr lang="en-CA" dirty="0"/>
            </a:br>
            <a:r>
              <a:rPr lang="en-CA" dirty="0"/>
              <a:t>However, high-risk borrowers contribute disproportionately to potential financial losses.</a:t>
            </a:r>
            <a:br>
              <a:rPr lang="en-CA" dirty="0"/>
            </a:br>
            <a:r>
              <a:rPr lang="en-CA" dirty="0"/>
              <a:t>This shows the need for targeted risk monitoring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322235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BBA2-E611-3844-E49D-92EA0178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Loan Amount &amp;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BF75-B3B4-E3BB-B9C1-A4D8ABA3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Higher loan amounts tend to be associated with higher risk levels.</a:t>
            </a:r>
            <a:br>
              <a:rPr lang="en-CA" dirty="0"/>
            </a:br>
            <a:r>
              <a:rPr lang="en-CA" dirty="0"/>
              <a:t>However, loan amount alone is not a perfect predictor of default risk.</a:t>
            </a:r>
            <a:br>
              <a:rPr lang="en-CA" dirty="0"/>
            </a:br>
            <a:r>
              <a:rPr lang="en-CA" dirty="0"/>
              <a:t>This indicates that lending decisions must consider multiple factors together.</a:t>
            </a:r>
          </a:p>
        </p:txBody>
      </p:sp>
    </p:spTree>
    <p:extLst>
      <p:ext uri="{BB962C8B-B14F-4D97-AF65-F5344CB8AC3E}">
        <p14:creationId xmlns:p14="http://schemas.microsoft.com/office/powerpoint/2010/main" val="193008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A726-B336-772C-EE5A-AF5C64C1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Interest Rate vs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67478-868B-43A7-3DB8-84443815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Higher-risk borrowers are generally charged higher interest rates.</a:t>
            </a:r>
            <a:br>
              <a:rPr lang="en-CA" dirty="0"/>
            </a:br>
            <a:r>
              <a:rPr lang="en-CA" dirty="0"/>
              <a:t>This reflects a risk-based pricing strategy used by financial institutions.</a:t>
            </a:r>
            <a:br>
              <a:rPr lang="en-CA" dirty="0"/>
            </a:br>
            <a:r>
              <a:rPr lang="en-CA" dirty="0"/>
              <a:t>However, higher interest rates may also increase financial burden on borrowers.</a:t>
            </a:r>
          </a:p>
        </p:txBody>
      </p:sp>
    </p:spTree>
    <p:extLst>
      <p:ext uri="{BB962C8B-B14F-4D97-AF65-F5344CB8AC3E}">
        <p14:creationId xmlns:p14="http://schemas.microsoft.com/office/powerpoint/2010/main" val="3527821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643A-A1DE-0032-D949-437916A1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94972-9BC1-73AE-9F2A-85F7CB322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Correlation analysis shows that financial and credit-related variables are strongly linked to loan default risk.</a:t>
            </a:r>
            <a:br>
              <a:rPr lang="en-CA" dirty="0"/>
            </a:br>
            <a:r>
              <a:rPr lang="en-CA" dirty="0"/>
              <a:t>Debt-to-income ratio and credit grade are among the most important predictors.</a:t>
            </a:r>
            <a:br>
              <a:rPr lang="en-CA" dirty="0"/>
            </a:br>
            <a:r>
              <a:rPr lang="en-CA" dirty="0"/>
              <a:t>This helps identify key features for risk assessment models.</a:t>
            </a:r>
          </a:p>
        </p:txBody>
      </p:sp>
    </p:spTree>
    <p:extLst>
      <p:ext uri="{BB962C8B-B14F-4D97-AF65-F5344CB8AC3E}">
        <p14:creationId xmlns:p14="http://schemas.microsoft.com/office/powerpoint/2010/main" val="252838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F716-E979-C4EE-43FF-07D95583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1488-C955-DAA2-F2B0-E3DF96F98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Loan default is influenced by multiple financial and credit-related factors </a:t>
            </a:r>
          </a:p>
          <a:p>
            <a:r>
              <a:rPr lang="en-CA" dirty="0"/>
              <a:t>Debt-to-income ratio is one of the strongest indicators of default risk </a:t>
            </a:r>
          </a:p>
          <a:p>
            <a:r>
              <a:rPr lang="en-CA" dirty="0"/>
              <a:t>Credit grade and credit history are key predictors of borrower reliability </a:t>
            </a:r>
          </a:p>
          <a:p>
            <a:r>
              <a:rPr lang="en-CA" dirty="0"/>
              <a:t>Higher loan amounts and interest rates are associated with higher risk </a:t>
            </a:r>
          </a:p>
          <a:p>
            <a:r>
              <a:rPr lang="en-CA" dirty="0"/>
              <a:t>Risk-based pricing reflects borrower risk levels effectively </a:t>
            </a:r>
          </a:p>
          <a:p>
            <a:r>
              <a:rPr lang="en-CA" dirty="0"/>
              <a:t>No single variable alone can predict default risk accurately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5322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A220-A297-8786-69A2-309B1B26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6724-F74F-D1C5-739D-5B30CF4F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Prioritize debt-to-income ratio in loan approval decisions</a:t>
            </a:r>
          </a:p>
          <a:p>
            <a:r>
              <a:rPr lang="en-CA" dirty="0"/>
              <a:t> Strengthen credit scoring and credit history evaluation </a:t>
            </a:r>
          </a:p>
          <a:p>
            <a:r>
              <a:rPr lang="en-CA" dirty="0"/>
              <a:t>Use risk-based pricing carefully to balance profit and affordability </a:t>
            </a:r>
          </a:p>
          <a:p>
            <a:r>
              <a:rPr lang="en-CA" dirty="0"/>
              <a:t>Monitor high-risk borrowers more closely </a:t>
            </a:r>
          </a:p>
          <a:p>
            <a:r>
              <a:rPr lang="en-CA" dirty="0"/>
              <a:t>Use multiple indicators together for better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223084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544E-0826-B3DA-7AB0-42C7434C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A3A68-2AE4-5874-B0A1-47CEF623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project demonstrates how data analysis can be used to understand loan default risk and borrower behavior.</a:t>
            </a:r>
            <a:br>
              <a:rPr lang="en-CA" dirty="0"/>
            </a:br>
            <a:r>
              <a:rPr lang="en-CA" dirty="0"/>
              <a:t>By identifying key risk factors, financial institutions can make better lending decisions, reduce financial losses, and improve portfolio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345739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</TotalTime>
  <Words>545</Words>
  <Application>Microsoft Office PowerPoint</Application>
  <PresentationFormat>Widescreen</PresentationFormat>
  <Paragraphs>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Capstone Two – Final Presentation Loan Default Risk Analysis</vt:lpstr>
      <vt:lpstr>Project Introduction</vt:lpstr>
      <vt:lpstr>Business Problem</vt:lpstr>
      <vt:lpstr>Objective</vt:lpstr>
      <vt:lpstr>Business Questions</vt:lpstr>
      <vt:lpstr>Hypothesis</vt:lpstr>
      <vt:lpstr>Loan Status Distribution</vt:lpstr>
      <vt:lpstr>Loan Risk Distribution</vt:lpstr>
      <vt:lpstr>Loan Amount &amp; Risk</vt:lpstr>
      <vt:lpstr>Interest Rate vs Risk</vt:lpstr>
      <vt:lpstr>Correlation Analysis</vt:lpstr>
      <vt:lpstr>Key Findings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15</cp:revision>
  <dcterms:created xsi:type="dcterms:W3CDTF">2026-06-28T22:49:36Z</dcterms:created>
  <dcterms:modified xsi:type="dcterms:W3CDTF">2026-06-28T23:17:57Z</dcterms:modified>
</cp:coreProperties>
</file>